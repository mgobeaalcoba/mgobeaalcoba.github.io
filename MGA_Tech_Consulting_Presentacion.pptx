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8BDFE"/>
                </a:solidFill>
                <a:latin typeface="Calibri"/>
              </a:defRPr>
            </a:pPr>
            <a:r>
              <a:t>MGA TECH CONSULTING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Presencia Digital Integral — Portfolio, Consultoría &amp; Productos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834640"/>
            <a:ext cx="3931920" cy="27432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Mariano Gobea Alcoba  |  Data &amp; Analytics Technical Leader  |  Buenos Aires, Argentina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www.mgatc.com  •  mariano@mgatc.com  • 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480560"/>
            <a:ext cx="5760720" cy="1645920"/>
          </a:xfrm>
          <a:prstGeom prst="rect">
            <a:avLst/>
          </a:prstGeom>
          <a:solidFill>
            <a:srgbClr val="25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457200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3 sitios web en producción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6 servicios de consultoría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80+ artículos técnicos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6 flujos de automatización n8n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www.mgatc.com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E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737360"/>
            <a:ext cx="10332720" cy="502920"/>
          </a:xfrm>
          <a:prstGeom prst="rect">
            <a:avLst/>
          </a:prstGeom>
          <a:solidFill>
            <a:srgbClr val="25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E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556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Visión General del Proyecto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9933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Monorepo, arquitectura y stack tecnológico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331720"/>
            <a:ext cx="10332720" cy="502920"/>
          </a:xfrm>
          <a:prstGeom prst="rect">
            <a:avLst/>
          </a:prstGeom>
          <a:solidFill>
            <a:srgbClr val="25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377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E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3500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Sitio Principal — MGA Tech Consulting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5877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Servicios B2B, pricing, conversión y lead gen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926080"/>
            <a:ext cx="10332720" cy="502920"/>
          </a:xfrm>
          <a:prstGeom prst="rect">
            <a:avLst/>
          </a:prstGeom>
          <a:solidFill>
            <a:srgbClr val="25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971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E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9443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Portfolio Interactivo &amp; Blog Técnico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182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CV digital, 80+ posts, herramientas financieras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520440"/>
            <a:ext cx="10332720" cy="502920"/>
          </a:xfrm>
          <a:prstGeom prst="rect">
            <a:avLst/>
          </a:prstGeom>
          <a:solidFill>
            <a:srgbClr val="25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566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E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538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Sitios de Clientes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77647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Neil Climatizadores &amp; El Portugués S.A.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114800"/>
            <a:ext cx="10332720" cy="502920"/>
          </a:xfrm>
          <a:prstGeom prst="rect">
            <a:avLst/>
          </a:prstGeom>
          <a:solidFill>
            <a:srgbClr val="25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1605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E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1330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Automatizaciones &amp; Infraestructura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37083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n8n, Supabase, CI/CD, hosting, 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709160"/>
            <a:ext cx="10332720" cy="502920"/>
          </a:xfrm>
          <a:prstGeom prst="rect">
            <a:avLst/>
          </a:prstGeom>
          <a:solidFill>
            <a:srgbClr val="25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754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E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727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SEO, Marketing &amp;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651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Estrategia, métricas, oportunidades de mejora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5303520"/>
            <a:ext cx="10332720" cy="502920"/>
          </a:xfrm>
          <a:prstGeom prst="rect">
            <a:avLst/>
          </a:prstGeom>
          <a:solidFill>
            <a:srgbClr val="25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3492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E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321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Pricing &amp; Modelo de Negocio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5595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Benchmark, recomendaciones, proyecciones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897880"/>
            <a:ext cx="10332720" cy="502920"/>
          </a:xfrm>
          <a:prstGeom prst="rect">
            <a:avLst/>
          </a:prstGeom>
          <a:solidFill>
            <a:srgbClr val="25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943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E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5916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Roadmap &amp; Próximos Pasos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61539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Hoja de ruta y priorización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www.mgatc.com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E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Visión General del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Monorepo que contiene la presencia digital completa de Mariano Gobea Alcoba y MGA Tech Consulting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68880"/>
            <a:ext cx="3291840" cy="1645920"/>
          </a:xfrm>
          <a:prstGeom prst="rect">
            <a:avLst/>
          </a:prstGeom>
          <a:solidFill>
            <a:srgbClr val="253045"/>
          </a:solidFill>
          <a:ln w="19050">
            <a:solidFill>
              <a:srgbClr val="38B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E"/>
                </a:solidFill>
                <a:latin typeface="Calibri"/>
              </a:defRPr>
            </a:pPr>
            <a:r>
              <a:t>🏢  Sitio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www.mgatc.com</a:t>
            </a:r>
            <a:br/>
            <a:r>
              <a:t>Consultoría + Portfolio + Blog + Recursos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468880"/>
            <a:ext cx="3291840" cy="1645920"/>
          </a:xfrm>
          <a:prstGeom prst="rect">
            <a:avLst/>
          </a:prstGeom>
          <a:solidFill>
            <a:srgbClr val="253045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84FC"/>
                </a:solidFill>
                <a:latin typeface="Calibri"/>
              </a:defRPr>
            </a:pPr>
            <a:r>
              <a:t>🏭  Neil Climatizadores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www.mgatc.com/neil-site/</a:t>
            </a:r>
            <a:br/>
            <a:r>
              <a:t>Climatización vehicular — 6 idiomas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468880"/>
            <a:ext cx="3291840" cy="1645920"/>
          </a:xfrm>
          <a:prstGeom prst="rect">
            <a:avLst/>
          </a:prstGeom>
          <a:solidFill>
            <a:srgbClr val="253045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📦  El Portugués S.A.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08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www.mgatc.com/elportugues-site/</a:t>
            </a:r>
            <a:br/>
            <a:r>
              <a:t>Logística y distribución — ISO 9001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Arquitectura Técnica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029200"/>
            <a:ext cx="256032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E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4406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Next.js 14 · TypeScript · Tailwind CSS</a:t>
            </a:r>
            <a:br/>
            <a:r>
              <a:t>Framer Motion · Lucide React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5029200"/>
            <a:ext cx="256032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A"/>
                </a:solidFill>
                <a:latin typeface="Calibri"/>
              </a:defRPr>
            </a:pPr>
            <a:r>
              <a:t>Backend /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54406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Supabase (PostgreSQL) · Row Level Security</a:t>
            </a:r>
            <a:br/>
            <a:r>
              <a:t>24+ tablas · 11 migraciones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029200"/>
            <a:ext cx="256032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Infraestructura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4406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Cloudflare Pages · GitHub Actions CI/CD</a:t>
            </a:r>
            <a:br/>
            <a:r>
              <a:t>Cloudflare DNS · Email Routing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5029200"/>
            <a:ext cx="256032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FBC0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C02D"/>
                </a:solidFill>
                <a:latin typeface="Calibri"/>
              </a:defRPr>
            </a:pPr>
            <a:r>
              <a:t>Automatización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54406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n8n (6 workflows) · OpenRouter (LLMs)</a:t>
            </a:r>
            <a:br/>
            <a:r>
              <a:t>Brevo SMTP · Google Sheets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www.mgatc.com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E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MGA Tech Consulting — Consultoría B2B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Orientada a PyMEs argentinas que quieren automatizar, implementar BI o adoptar IA sin equipo técnico propio.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E"/>
                </a:solidFill>
                <a:latin typeface="Calibri"/>
              </a:defRPr>
            </a:pPr>
            <a:r>
              <a:t>Propuesta de Valor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Reducción de costos operativos hasta 80%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Primera automatización 100% GRATIS (lead magnet)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Desarrollo ágil con ROI medible en 2-3 meses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Expertise de MercadoLibre aplicado a PyMEs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E"/>
                </a:solidFill>
                <a:latin typeface="Calibri"/>
              </a:defRPr>
            </a:pPr>
            <a:r>
              <a:t>Componentes de la Página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Hero con parallax + typing animation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Paradigm Shift — propuesta de valor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Free Offer Banner — automatización gratis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6 Servicios detallados con modales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Success Stories + Client Portfolio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Pricing Overview (3 tiers)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Case Studies + Testimonials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Process (4-step methodology)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Contact Form (WhatsApp + Email)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Newsletter Banner — The Data Digest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Floating CTA + Proposal 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E"/>
                </a:solidFill>
                <a:latin typeface="Calibri"/>
              </a:defRPr>
            </a:pPr>
            <a:r>
              <a:t>6 Servicios Ofrecidos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349240"/>
            <a:ext cx="173736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E"/>
                </a:solidFill>
                <a:latin typeface="Calibri"/>
              </a:defRPr>
            </a:pPr>
            <a:r>
              <a:t>Automatización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692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RPA, n8n, Python, webhooks</a:t>
            </a:r>
            <a:br/>
            <a:r>
              <a:t>$100/mes o $600 proyecto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19" y="5349240"/>
            <a:ext cx="173736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59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Calibri"/>
              </a:defRPr>
            </a:pPr>
            <a:r>
              <a:t>IA Aplicada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59" y="56692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Chatbots WhatsApp, RAG, ML</a:t>
            </a:r>
            <a:br/>
            <a:r>
              <a:t>$200/mes o $800 proyecto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39" y="5349240"/>
            <a:ext cx="173736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BI &amp;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56692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BigQuery, Looker, dashboards</a:t>
            </a:r>
            <a:br/>
            <a:r>
              <a:t>$200/mes o $800 proyecto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59" y="5349240"/>
            <a:ext cx="173736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FBC0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399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C02D"/>
                </a:solidFill>
                <a:latin typeface="Calibri"/>
              </a:defRPr>
            </a:pPr>
            <a:r>
              <a:t>Mentorías 1-a-1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399" y="56692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Carrera tech, entrevistas, arquitectura</a:t>
            </a:r>
            <a:br/>
            <a:r>
              <a:t>$100/sesión · $350/pack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79" y="5349240"/>
            <a:ext cx="173736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Cursos Grupales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56692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Máx 4 personas · SQL, Python, GenAI</a:t>
            </a:r>
            <a:br/>
            <a:r>
              <a:t>$600-$850 por curso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87000" y="5349240"/>
            <a:ext cx="173736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78440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Reclutamiento Tech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56692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Evaluación técnica real por Tech Lead</a:t>
            </a:r>
            <a:br/>
            <a:r>
              <a:t>$3,000 success fee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www.mgatc.com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E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Portfolio Interactivo &amp; Blog Técnico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5029200" cy="4389120"/>
          </a:xfrm>
          <a:prstGeom prst="rect">
            <a:avLst/>
          </a:prstGeom>
          <a:solidFill>
            <a:srgbClr val="253045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84FC"/>
                </a:solidFill>
                <a:latin typeface="Calibri"/>
              </a:defRPr>
            </a:pPr>
            <a:r>
              <a:t>/portfolio/  —  CV Interactivo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Animación de intro cinematográfica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14+ posiciones con tags de tecnología y modales de detalle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Proyectos GitHub filtrables por tecnología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Stack tecnológico: Fullstack, ML, AI, Cloud, BI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109+ certificaciones con categorización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Educación timeline (Bachiller → Posgrado UAI)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Dashboard económico comparador de inversiones 12 meses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Newsletter 'The Data Digest' — suscripción semanal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3 temas: Dark (default), Light, Terminal (CLI interactivo)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Modo Terminal: comandos about, experience, neofetch, matrix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Bilingüe completo (ES / EN) switcheable desde navbar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Descarga de CV en PDF generado con jsPDF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29200" cy="4389120"/>
          </a:xfrm>
          <a:prstGeom prst="rect">
            <a:avLst/>
          </a:prstGeom>
          <a:solidFill>
            <a:srgbClr val="253045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Calibri"/>
              </a:defRPr>
            </a:pPr>
            <a:r>
              <a:t>/blog/  —  Data Engineering en las Trincheras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80+ artículos técnicos en Markdown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Temas: BigQuery, dbt, Airflow, Docker, Kafka, embeddings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Posts generados automáticamente por n8n desde Hacker News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Publicación cruzada en dev.to con canonical URL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Videos de YouTube embebidos (masterclasses)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Filtro visual entre posts y videos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Syntax highlighting + tablas + tipografía optimizada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Fechas 2024-2026 con cobertura continua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SEO optimizado con structured data por post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Lead magnets contextuales en posts populares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www.mgatc.com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E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Herramientas Financieras — /recursos/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4AD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Herramientas gratuitas para el contexto económico argentino — motor de SEO y generación de leads.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347472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E"/>
                </a:solidFill>
                <a:latin typeface="Calibri"/>
              </a:defRPr>
            </a:pPr>
            <a:r>
              <a:t>Calculadora de Ganancias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06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  •  Art. 94 LIG — escala completa con deducciones Art. 30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  •  Valores AFIP 2026 actualizados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  •  Gráfico de torta de distribución impositiva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  •  Escenarios precargados (soltero, casado, hijos)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  •  Generación de reporte descargable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749040"/>
            <a:ext cx="347472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A"/>
                </a:solidFill>
                <a:latin typeface="Calibri"/>
              </a:defRPr>
            </a:pPr>
            <a:r>
              <a:t>Cotizaciones del Dólar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  •  6 tipos: oficial, blue, MEP, CCL, cripto, tarjeta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  •  Datos en tiempo real vía API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  •  Histórico interactivo con Chart.js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  •  Comparativa visual entre cotizaciones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  •  Frecuencia de uso: alta (tráfico recurrente)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212080"/>
            <a:ext cx="347472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FBC0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C02D"/>
                </a:solidFill>
                <a:latin typeface="Calibri"/>
              </a:defRPr>
            </a:pPr>
            <a:r>
              <a:t>Indicadores Económicos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5321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  •  Inflación mensual e interanual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  •  Tasa de plazo fijo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  •  Riesgo país (EMBI Argentina)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  •  Históricos con gráficos interactivos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  •  Fuente de tráfico SEO de largo alcance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286000"/>
            <a:ext cx="6858000" cy="4114800"/>
          </a:xfrm>
          <a:prstGeom prst="rect">
            <a:avLst/>
          </a:prstGeom>
          <a:solidFill>
            <a:srgbClr val="253045"/>
          </a:solidFill>
          <a:ln w="19050">
            <a:solidFill>
              <a:srgbClr val="4AD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377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A"/>
                </a:solidFill>
                <a:latin typeface="Calibri"/>
              </a:defRPr>
            </a:pPr>
            <a:r>
              <a:t>Funciones Comerciales de las Herramientas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8346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SEO de largo alcance: capturan búsquedas informativas de alto volumen (calculadora ganancias 2026, dólar blue hoy, inflación argentina)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Tráfico recurrente: el dólar y los indicadores económicos se consultan diariamente, generando visitas repetidas al dominio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Autoridad de marca: posicionan a Mariano como referente que entiende tanto la tecnología como el contexto económico local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Puerta de entrada: usuarios que llegan por las herramientas descubren los servicios de consultoría en la navegación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Datos para lead scoring: el uso de las herramientas permite inferir perfil del visitante (profesional, empresario, inversor)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Contenido compartible: herramientas que se comparten en redes y grupos de WhatsApp, generando backlinks orgánicos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Diferenciador: muy pocos consultores tech ofrecen herramientas propias — genera valor percibido inmediato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www.mgatc.com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E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Sitios de Clientes — Portfolio Comercial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5029200" cy="4572000"/>
          </a:xfrm>
          <a:prstGeom prst="rect">
            <a:avLst/>
          </a:prstGeom>
          <a:solidFill>
            <a:srgbClr val="253045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84FC"/>
                </a:solidFill>
                <a:latin typeface="Calibri"/>
              </a:defRPr>
            </a:pPr>
            <a:r>
              <a:t>Neil Climatizadores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www.mgatc.com/neil-site/  •  Climatización vehicular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743200"/>
            <a:ext cx="4572000" cy="1828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260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Empresa con patente exclusiva AR-031005B1 (Pre-Enfriado)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Disponible en 6 idiomas: ES, EN, IT, FR, PT, DE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Showcase de productos: climatizadores, AA, calderas, solar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Sistema de Pre-Enfriamiento patentado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Presencia internacional con representantes en Europa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Formulario de contacto/cotización → webhook n8n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basePath: /neil-site — integrado en el mismo deploy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solidFill>
            <a:srgbClr val="253045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  <a:latin typeface="Calibri"/>
              </a:defRPr>
            </a:pPr>
            <a:r>
              <a:t>El Portugués S.A.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www.mgatc.com/elportugues-site/  •  Logística y distribución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743200"/>
            <a:ext cx="4572000" cy="1828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9260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80+ años de historia — 4 generaciones (desde 1927)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Certificación ISO 9001:2015 de calidad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Servicios: transporte, distribución AMBA/interior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Almacenamiento de 8.200 m²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Propuesta comercial de automatización interna incluida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Formulario de contacto → webhook n8n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basePath: /elportugues-site — mismo pipeline de deploy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www.mgatc.com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E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Automatizaciones — n8n Workflows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6 workflows productivos auto-hospedados en mgobeaalcoba.app.n8n.cloud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1033272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E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04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Blog Creator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331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E"/>
                </a:solidFill>
                <a:latin typeface="Consolas"/>
              </a:defRPr>
            </a:pPr>
            <a:r>
              <a:t>Schedule semanal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5603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Lee Hacker News trends → genera artículo bilingüe con OpenRouter → publica en dev.to → commit a GitHub → registra en Supabase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A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358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Webhook Contact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063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A"/>
                </a:solidFill>
                <a:latin typeface="Consolas"/>
              </a:defRPr>
            </a:pPr>
            <a:r>
              <a:t>Webhook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2918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Recibe formularios de neil-site y elportugues-site → log en Google Sheets → email de notificación + agradecimiento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749040"/>
            <a:ext cx="1033272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794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84F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7673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Newsletter Subscription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794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84FC"/>
                </a:solidFill>
                <a:latin typeface="Consolas"/>
              </a:defRPr>
            </a:pPr>
            <a:r>
              <a:t>Webhook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0233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Captura suscripciones 'The Data Digest' → log en Google Sheets → email de bienvenida automatizado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480560"/>
            <a:ext cx="1033272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BC0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526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C02D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4988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Free Automation Lead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526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C02D"/>
                </a:solidFill>
                <a:latin typeface="Consolas"/>
              </a:defRPr>
            </a:pPr>
            <a:r>
              <a:t>Webhook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7548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Leads del form 'Automatización Gratis' → log en Google Sheets → email de confirmación + notificación admin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212080"/>
            <a:ext cx="1033272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257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2303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Daily Content Digest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257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D3EE"/>
                </a:solidFill>
                <a:latin typeface="Consolas"/>
              </a:defRPr>
            </a:pPr>
            <a:r>
              <a:t>Schedule diario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4864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Genera resumen de noticias tech vía AI + SerpAPI → email a suscriptores con curaduría automatizada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943600"/>
            <a:ext cx="1033272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989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961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Unified AI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5989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Consolas"/>
              </a:defRPr>
            </a:pPr>
            <a:r>
              <a:t>Webhook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62179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Agente RAG con búsqueda semántica en blog + captura leads en Supabase + calculadora de impuestos integrada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www.mgatc.com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E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Infraestructura, Deploy &amp; Base de Datos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E"/>
                </a:solidFill>
                <a:latin typeface="Calibri"/>
              </a:defRPr>
            </a:pPr>
            <a:r>
              <a:t>Hosting &amp; Infraestructura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Cloudflare Pages — hosting principal, CDN global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Cloudflare Registrar — dominio mgatc.com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Cloudflare DNS — MX, CNAME, TXT, DMARC configurados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Cloudflare Email Routing + Brevo SMTP — mariano@mgatc.com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Security headers: X-Frame-Options, CSP, HSTS via _headers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GitHub Pages — legacy redirect (gh-pages branch)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A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GitHub Actions — push a main → rebuild + redeploy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Builds en paralelo para los 3 sitios (cv, neil, elportugues)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Script root build-cloudflare.sh — ensamblado final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Output: _site/ (cv root + neil-site + elportugues-site)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Deploy automático a Cloudflare Pages sin intervención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84FC"/>
                </a:solidFill>
                <a:latin typeface="Calibri"/>
              </a:defRPr>
            </a:pPr>
            <a:r>
              <a:t>Supabase — Base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PostgreSQL con Row Level Security (read-only anon)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24+ tablas gestionadas · 11 migraciones SQL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experience + experience_tags — 14+ posiciones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projects + project_tags — GitHub projects filtrables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education + certifications — 109+ certificaciones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blog_posts — metadata de 80+ artículos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consulting_packs + features + automations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consulting_case_studies + tags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●  Contenido dinámico: editar SQL = actualizar sin deploy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www.mgatc.com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E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SEO, Analytics &amp;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4AD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A"/>
                </a:solidFill>
                <a:latin typeface="Calibri"/>
              </a:defRPr>
            </a:pPr>
            <a:r>
              <a:t>SEO &amp; Discoverabilidad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Sitemap dinámico (/sitemap.xml) — rutas + blog posts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robots.txt con directivas por crawler (Google, Bing, AI bots)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llms.txt para discoverabilidad por agentes de IA (GPTBot, Claude-Web)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JSON-LD Schema.org: Person, WebSite, ProfessionalService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Canonical URLs → https://www.mgatc.com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Google Search Console verificado por DNS TXT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Geo-meta tags para Buenos Aires, Argentina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OpenGraph + Twitter Card metadata optimizados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Redirect strategy: 301s a nivel CDN (Cloudflare _redirects)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SEO plan documentado en 4 fases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E"/>
                </a:solidFill>
                <a:latin typeface="Calibri"/>
              </a:defRPr>
            </a:pPr>
            <a:r>
              <a:t>Analytics &amp;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Google Analytics 4 — property G-DG0SLT5RY3 (compartida 3 sitios)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Cross-domain tracking: mgatc.com, mgobeaalcoba.github.io, mgatc.pages.dev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Cloudflare Web Analytics — cookieless, inmune a ad-blockers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Key events: cv_download, sign_up, generate_lead, contact_click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Eventos adicionales: contact_channel_select, whatsapp_click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GA4 inline en &lt;head&gt; para mejor tag quality score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ScrollTracker para medir engagement por sección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Event tracking en calculadoras, herramientas y formularios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Service view tracking por tipo de servicio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Proposal modal open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www.mgatc.com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E"/>
                </a:solidFill>
                <a:latin typeface="Consolas"/>
              </a:defRPr>
            </a:pPr>
            <a:r>
              <a:t>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Pricing — Modelo de Negocio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Precios transparentes en USD — segmentados por B2B (empresas) y B2C (profesionales)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3291840" cy="4114800"/>
          </a:xfrm>
          <a:prstGeom prst="rect">
            <a:avLst/>
          </a:prstGeom>
          <a:solidFill>
            <a:srgbClr val="253045"/>
          </a:solidFill>
          <a:ln w="19050">
            <a:solidFill>
              <a:srgbClr val="38B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E"/>
                </a:solidFill>
                <a:latin typeface="Calibri"/>
              </a:defRPr>
            </a:pPr>
            <a:r>
              <a:t>B2B — Empresas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Automatización (proyecto)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Chatbot IA (proyecto)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Dashboard BI (proyecto)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383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$800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Recurrente (soporte)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$100-200/mes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Primera automatización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931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GRATIS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54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A"/>
                </a:solidFill>
                <a:latin typeface="Calibri"/>
              </a:defRPr>
            </a:pPr>
            <a:r>
              <a:t>ROI: 300-500% primer año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286000"/>
            <a:ext cx="3291840" cy="4114800"/>
          </a:xfrm>
          <a:prstGeom prst="rect">
            <a:avLst/>
          </a:prstGeom>
          <a:solidFill>
            <a:srgbClr val="253045"/>
          </a:solidFill>
          <a:ln w="19050">
            <a:solidFill>
              <a:srgbClr val="FBC0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C02D"/>
                </a:solidFill>
                <a:latin typeface="Calibri"/>
              </a:defRPr>
            </a:pPr>
            <a:r>
              <a:t>B2C — Profesionales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Mentoría (sesión)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Mentoría (pack 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$350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Mentoría (mensual)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383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$280/mes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Cursos intensivos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$600-850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754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C02D"/>
                </a:solidFill>
                <a:latin typeface="Calibri"/>
              </a:defRPr>
            </a:pPr>
            <a:r>
              <a:t>Máx 4 personas por curso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2286000"/>
            <a:ext cx="3291840" cy="4114800"/>
          </a:xfrm>
          <a:prstGeom prst="rect">
            <a:avLst/>
          </a:prstGeom>
          <a:solidFill>
            <a:srgbClr val="253045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Reclutamiento Tech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Success-based fee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$3,000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Retainer (1 búsqueda)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$1,500/mes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Retainer (2 búsquedas)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3383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$2,000/mes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Garantía de reemplazo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 meses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754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Proceso: 3 semanas promedio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6400800"/>
            <a:ext cx="10332720" cy="3200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Benchmark: 40-90% más económico que competencia directa. Posicionamiento: calidad premium a precio medio-competitivo.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www.mgatc.com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E"/>
                </a:solidFill>
                <a:latin typeface="Consolas"/>
              </a:defRPr>
            </a:pPr>
            <a:r>
              <a:t>011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Lead Generation &amp; Conversión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4AD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A"/>
                </a:solidFill>
                <a:latin typeface="Calibri"/>
              </a:defRPr>
            </a:pPr>
            <a:r>
              <a:t>Embudo de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TOP: Herramientas financieras (SEO) — tráfico orgánico masivo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MID: Blog técnico (80+ posts) — autoridad y confianza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MID: Newsletter 'The Data Digest' — nurturing semanal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BOTTOM: 'Automatización Gratis' — lead magnet principal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BOTTOM: Contact form — WhatsApp directo + email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BOTTOM: Proposal Modal — cotización personalizada en PDF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BOTTOM: Floating CTA — siempre visible durante scroll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E"/>
                </a:solidFill>
                <a:latin typeface="Calibri"/>
              </a:defRPr>
            </a:pPr>
            <a:r>
              <a:t>Herramientas de Conversión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WhatsApp directo (wa.me/5491127475569) — canal preferido en Argentina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Email profesional mariano@mgatc.com — routing Cloudflare + Brevo SMTP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Proposal Modal — generación de propuesta PDF con jsPDF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Service modals — detalle de cada servicio con CTA contextual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ScrollTracker — mide engagement por sección para optimizar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GA4 key events — tracking completo del funnel de conversión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n8n automation — respuesta automática en &lt;24hs a leads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▸  Google Sheets backup — redundancia de datos de leads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303520"/>
            <a:ext cx="10332720" cy="1188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Funnel de Conversión Visual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5715000"/>
            <a:ext cx="2377440" cy="548640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7332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827"/>
                </a:solidFill>
                <a:latin typeface="Calibri"/>
              </a:defRPr>
            </a:pPr>
            <a:r>
              <a:t>Tráfico Orgánico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9618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Herramientas + Blog + SEO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5715000"/>
            <a:ext cx="2377440" cy="54864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57332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827"/>
                </a:solidFill>
                <a:latin typeface="Calibri"/>
              </a:defRPr>
            </a:pPr>
            <a:r>
              <a:t>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9618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Scroll + clicks + modales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5715000"/>
            <a:ext cx="2377440" cy="54864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57332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Captura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9618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Newsletter + Free Automation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79" y="5715000"/>
            <a:ext cx="2377440" cy="548640"/>
          </a:xfrm>
          <a:prstGeom prst="rect">
            <a:avLst/>
          </a:prstGeom>
          <a:solidFill>
            <a:srgbClr val="4AD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79" y="57332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Conversión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79" y="59618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WhatsApp + Email + Proposal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www.mgatc.com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E"/>
                </a:solidFill>
                <a:latin typeface="Consolas"/>
              </a:defRPr>
            </a:pPr>
            <a:r>
              <a:t>012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Métricas &amp; KPIs del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Calibri"/>
              </a:defRPr>
            </a:pPr>
            <a:r>
              <a:t>Métricas Cuantitativas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3 sitios web en producción bajo un solo dominio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80+ artículos técnicos publicados (blog)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14+ experiencias profesionales documentadas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109+ certificaciones registradas en Supabase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24+ tablas de base de datos activas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11 migraciones SQL versionadas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6 workflows de automatización n8n productivos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6 servicios de consultoría definidos y con pricing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3 packs de pricing (Free, Pro, IA &amp; Analytics)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6 idiomas disponibles (Neil Climatizadores)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3 temas UI (Dark, Light, Terminal)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2 lenguajes completos (ES / 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A"/>
                </a:solidFill>
                <a:latin typeface="Calibri"/>
              </a:defRPr>
            </a:pPr>
            <a:r>
              <a:t>Logros Cualitativos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Monorepo autocontenido — todo en un solo repositorio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CI/CD completamente automatizado (push → deploy)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Contenido dinámico sin tocar código (Supabase + n8n)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SEO avanzado con soporte para crawlers de IA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Lead generation automatizada de principio a fin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Blog auto-generado con curaduría AI de tendencias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Herramientas financieras como motor de tráfico SEO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Cross-posting automático en dev.to con canonical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Email routing profesional con dominio propio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Seguridad: security headers, RLS, sin secrets en repo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Performance: static export, CDN global, lazy loading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▸  Accesibilidad: 3 temas, CLI terminal, bilingual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www.mgatc.com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E"/>
                </a:solidFill>
                <a:latin typeface="Consolas"/>
              </a:defRPr>
            </a:pPr>
            <a:r>
              <a:t>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Oportunidades de Mejora Comercial &amp; Marketing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Calibri"/>
              </a:defRPr>
            </a:pPr>
            <a:r>
              <a:t>Críticas (alto impacto, bajo esfuerzo)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🔴  Agregar métricas de impacto en el hero (+X procesos automatizados, $Y ahorrados)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🔴  CTA principal diferenciado: botón sticky 'Agendar llamada gratis 15 min'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🔴  Activar newsletter 'The Data Digest' en Mailchimp (ya configurado)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🔴  Casos de éxito con formato problema → solución → resultado numérico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C02D"/>
                </a:solidFill>
                <a:latin typeface="Calibri"/>
              </a:defRPr>
            </a:pPr>
            <a:r>
              <a:t>Estratégicas (alto impacto, medio esfuerzo)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🟡  Landing pages por servicio (/automatizacion, /ia, /bi) para SEO y ads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🟡  Programa de referidos formal ('referí y ganá 1 sesión gratis')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🟡  Posts 'insignia' escritos 100% por Mariano (experiencia real)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🟡  Registro en directorios: Clutch, Google My Business, LinkedIn Services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🟡  Video pitch de 60-90 seg embebido en hero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A"/>
                </a:solidFill>
                <a:latin typeface="Calibri"/>
              </a:defRPr>
            </a:pPr>
            <a:r>
              <a:t>Crecimiento (medio-alto impacto, mayor esfuerzo)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🟢  Producto entry-level productizado ('Audit de datos en 48hs — $150')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🟢  Estrategia sistemática en LinkedIn (3 posts/semana)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🟢  Sección FAQ para resolver objeciones de venta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🟢  Integrar CRM (HubSpot free, Pipedrive) para pipeline visual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754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🟢  CTA contextual en herramientas financieras ('¿Querés automatizar esto?')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🟢  Landing dedicada de cursos con syllabus, fechas y countdown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🟢  Bundles de servicios (UpSkilling, Transform Team, Career Accelerator)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🟢  Tier premium para anclar precios (cursos 1-on-1, executive search)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www.mgatc.com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E"/>
                </a:solidFill>
                <a:latin typeface="Consolas"/>
              </a:defRPr>
            </a:pPr>
            <a:r>
              <a:t>014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Proyección de Ingresos — Año 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4AD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Escenario realista con pricing optimizado (benchmark 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5029200" cy="2743200"/>
          </a:xfrm>
          <a:prstGeom prst="rect">
            <a:avLst/>
          </a:prstGeom>
          <a:solidFill>
            <a:srgbClr val="253045"/>
          </a:solidFill>
          <a:ln w="19050">
            <a:solidFill>
              <a:srgbClr val="38B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E"/>
                </a:solidFill>
                <a:latin typeface="Calibri"/>
              </a:defRPr>
            </a:pPr>
            <a:r>
              <a:t>Q1-Q2 — Construcción de 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5 Automatizaciones gratis → 2 conversiones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$1,200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154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3 Mentorías (pack 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154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$1,050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74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1 Curso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74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$700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94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A"/>
                </a:solidFill>
                <a:latin typeface="Calibri"/>
              </a:defRPr>
            </a:pPr>
            <a:r>
              <a:t>TOTAL Q1-Q2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7947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DE8A"/>
                </a:solidFill>
                <a:latin typeface="Calibri"/>
              </a:defRPr>
            </a:pPr>
            <a:r>
              <a:t>$2,950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86000"/>
            <a:ext cx="5029200" cy="2743200"/>
          </a:xfrm>
          <a:prstGeom prst="rect">
            <a:avLst/>
          </a:prstGeom>
          <a:solidFill>
            <a:srgbClr val="253045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84FC"/>
                </a:solidFill>
                <a:latin typeface="Calibri"/>
              </a:defRPr>
            </a:pPr>
            <a:r>
              <a:t>Q3-Q4 — Con Tracción y Testimonios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3 Proyectos automatización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8346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$1,800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108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2 Proyectos IA &amp;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108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$1,600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83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1 Recruiting success fee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383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$3,000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57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5 Mentorías (pack 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657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$1,750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931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2 Cursos intensivos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3931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$1,550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A"/>
                </a:solidFill>
                <a:latin typeface="Calibri"/>
              </a:defRPr>
            </a:pPr>
            <a:r>
              <a:t>TOTAL Q3-Q4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4206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DE8A"/>
                </a:solidFill>
                <a:latin typeface="Calibri"/>
              </a:defRPr>
            </a:pPr>
            <a:r>
              <a:t>$9,700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303520"/>
            <a:ext cx="1033272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ADE8A"/>
                </a:solidFill>
                <a:latin typeface="Calibri"/>
              </a:defRPr>
            </a:pPr>
            <a:r>
              <a:t>Proyección Anual Consolidada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7607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Consultoría B2B (proyectos)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760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$6,100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97103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Mentorías B2C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9710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$2,800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18134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Cursos grupales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1813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$2,250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39165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Recurrentes (3 clientes × $100 × 6 meses)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63916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$1,800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660196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A"/>
                </a:solidFill>
                <a:latin typeface="Calibri"/>
              </a:defRPr>
            </a:pPr>
            <a:r>
              <a:t>TOTAL AÑO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66019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ADE8A"/>
                </a:solidFill>
                <a:latin typeface="Calibri"/>
              </a:defRPr>
            </a:pPr>
            <a:r>
              <a:t>$12,950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8122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A"/>
                </a:solidFill>
                <a:latin typeface="Calibri"/>
              </a:defRPr>
            </a:pPr>
            <a:r>
              <a:t>UPSIDE (clientes grandes $200-500/mes)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6812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ADE8A"/>
                </a:solidFill>
                <a:latin typeface="Calibri"/>
              </a:defRPr>
            </a:pPr>
            <a:r>
              <a:t>+$2,400 a $6,000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www.mgatc.com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E"/>
                </a:solidFill>
                <a:latin typeface="Consolas"/>
              </a:defRPr>
            </a:pPr>
            <a:r>
              <a:t>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Roadmap &amp; Próximos Pasos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737360"/>
            <a:ext cx="1033272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Calibri"/>
              </a:defRPr>
            </a:pPr>
            <a:r>
              <a:t>FASE 1 — Inmediato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onsolas"/>
              </a:defRPr>
            </a:pPr>
            <a:r>
              <a:t>Semana 1-2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Activar newsletter 'The Data Digest' en Mailchimp     •  Agregar métricas de impacto al hero del consulting     •  Implementar CTA sticky 'Agendar llamada gratuita'     •  Crear casos de éxito con formato problema → solución → ROI     •  Ajustar pricing recruiting a $3,000 (ya documentado)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17520"/>
            <a:ext cx="1033272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BC0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C02D"/>
                </a:solidFill>
                <a:latin typeface="Calibri"/>
              </a:defRPr>
            </a:pPr>
            <a:r>
              <a:t>FASE 2 — Corto Plazo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onsolas"/>
              </a:defRPr>
            </a:pPr>
            <a:r>
              <a:t>Mes 1-2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375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Crear landing pages individuales por servicio (SEO + ads)     •  Activar programa de referidos formal     •  Escribir 3-5 posts 'insignia' con experiencia real de Mariano     •  Registrar en directorios (Clutch, Google My Business, LinkedIn Services)     •  Grabar video pitch de 60-90 seg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297680"/>
            <a:ext cx="1033272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A"/>
                </a:solidFill>
                <a:latin typeface="Calibri"/>
              </a:defRPr>
            </a:pPr>
            <a:r>
              <a:t>FASE 3 — Mediano Plazo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onsolas"/>
              </a:defRPr>
            </a:pPr>
            <a:r>
              <a:t>Mes 2-3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6177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Integrar CRM (HubSpot free) para pipeline y follow-ups     •  Agregar FAQ section en página de consulting     •  Crear producto entry-level ('Audit de datos en 48hs — $150')     •  CTA contextual en herramientas financieras     •  Estrategia de contenido LinkedIn (3 posts/semana)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577839"/>
            <a:ext cx="1033272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6235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E"/>
                </a:solidFill>
                <a:latin typeface="Calibri"/>
              </a:defRPr>
            </a:pPr>
            <a:r>
              <a:t>FASE 4 — Largo Plazo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6235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onsolas"/>
              </a:defRPr>
            </a:pPr>
            <a:r>
              <a:t>Mes 3-6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97879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Landing dedicada de cursos con syllabus, fechas, countdown     •  Implementar bundles de servicios (UpSkilling, Transform Team)     •  Agregar tier premium (cursos 1-on-1, executive search)     •  Ajustar pricing gradual (+20-40% basado en testimonios)     •  Explorar mercado LATAM (no solo Argentina)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8BDFE"/>
                </a:solidFill>
                <a:latin typeface="Calibri"/>
              </a:defRPr>
            </a:pPr>
            <a:r>
              <a:t>MGA TECH CONSULTING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286000"/>
            <a:ext cx="3931920" cy="27432"/>
          </a:xfrm>
          <a:prstGeom prst="rect">
            <a:avLst/>
          </a:prstGeom>
          <a:solidFill>
            <a:srgbClr val="38B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Tecnología de clase mundial accesible para PyMEs argentinas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291840"/>
            <a:ext cx="7589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●  Ecosistema digital completo: consultoría + portfolio + blog + herramientas + sitios de clientes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●  Arquitectura moderna: Next.js 14, Supabase, n8n, Cloudflare, CI/CD automatizado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●  6 servicios con pricing competitivo y modelo freemium (primera automatización gratis)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●  Lead generation automatizada de extremo a extremo con 6 workflows n8n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●  SEO avanzado con soporte para crawlers de IA (GPTBot, Claude-Web, CCBot)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●  Oportunidad de crecimiento: +55% ingresos con ajustes de pricing ya documentados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Calibri"/>
              </a:defRPr>
            </a:pPr>
            <a:r>
              <a:t>www.mgatc.com  •  mariano@mgatc.com  •  Buenos Aires, Argentina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